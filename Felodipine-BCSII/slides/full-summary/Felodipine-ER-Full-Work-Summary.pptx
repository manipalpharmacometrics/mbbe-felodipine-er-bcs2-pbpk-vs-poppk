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4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efd7a61-752b-be3c-1e5a-a938e736792a}">
          <p14:sldIdLst>
            <p14:sldId id="256"/>
            <p14:sldId id="257"/>
          </p14:sldIdLst>
        </p14:section>
        <p14:section name="1 · Set-up and the model" id="{0bdbbfb3-797c-0ee3-370b-a4c4fab0efe0}">
          <p14:sldIdLst>
            <p14:sldId id="258"/>
            <p14:sldId id="259"/>
            <p14:sldId id="260"/>
            <p14:sldId id="261"/>
          </p14:sldIdLst>
        </p14:section>
        <p14:section name="2 · First model checks" id="{f9ff5b2f-b8a0-e206-b6e2-1ba5a5eb3604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3 · Refit and reference lock" id="{6df626a3-e43f-9485-ed68-f25d818bebc7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4 · Rebuild and population" id="{5a7d3fcf-2c34-add7-9b53-c4f2b1bd4078}">
          <p14:sldIdLst>
            <p14:sldId id="275"/>
            <p14:sldId id="276"/>
            <p14:sldId id="277"/>
            <p14:sldId id="278"/>
            <p14:sldId id="279"/>
          </p14:sldIdLst>
        </p14:section>
        <p14:section name="5 · The safe space" id="{fd44e07a-da2d-6f82-6919-350267679264}">
          <p14:sldIdLst>
            <p14:sldId id="280"/>
            <p14:sldId id="281"/>
            <p14:sldId id="282"/>
            <p14:sldId id="283"/>
            <p14:sldId id="284"/>
          </p14:sldIdLst>
        </p14:section>
        <p14:section name="6 · Fed and dissolution gates" id="{cd515936-8596-cfb8-2649-e5b18f42fc94}">
          <p14:sldIdLst>
            <p14:sldId id="285"/>
            <p14:sldId id="286"/>
            <p14:sldId id="287"/>
            <p14:sldId id="288"/>
            <p14:sldId id="289"/>
          </p14:sldIdLst>
        </p14:section>
        <p14:section name="7 · PBPK vs PopPK" id="{def24bdb-d386-5d03-46c9-1386cd172644}">
          <p14:sldIdLst>
            <p14:sldId id="290"/>
            <p14:sldId id="291"/>
            <p14:sldId id="292"/>
            <p14:sldId id="293"/>
          </p14:sldIdLst>
        </p14:section>
        <p14:section name="8 · Wrap-up" id="{7ee47996-87b1-67f3-e740-d70d4f102a6a}">
          <p14:sldIdLst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4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4C"/>
                </a:solidFill>
                <a:latin typeface="+mn-lt"/>
              </a:rPr>
              <a:t>Pooled pred/obs by time window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pred/obs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0–2 h</c:v>
                  </c:pt>
                  <c:pt idx="1">
                    <c:v>2–6 h</c:v>
                  </c:pt>
                  <c:pt idx="2">
                    <c:v>6–12 h</c:v>
                  </c:pt>
                  <c:pt idx="3">
                    <c:v>12–24 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1.23</c:v>
                </c:pt>
                <c:pt idx="1">
                  <c:v>0.9</c:v>
                </c:pt>
                <c:pt idx="2">
                  <c:v>1.22</c:v>
                </c:pt>
                <c:pt idx="3">
                  <c:v>3.18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6350" cap="flat">
              <a:solidFill>
                <a:srgbClr val="D5DE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4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4C"/>
                </a:solidFill>
                <a:latin typeface="+mn-lt"/>
              </a:rPr>
              <a:t>Cmax GMR vs T50 (shape 0.764)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Cmax GMR</c:v>
                </c:pt>
              </c:strCache>
            </c:strRef>
          </c:tx>
          <c:spPr>
            <a:solidFill>
              <a:srgbClr val="0F766E"/>
            </a:solidFill>
            <a:ln w="254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2.39</c:v>
                  </c:pt>
                  <c:pt idx="1">
                    <c:v>3.35</c:v>
                  </c:pt>
                  <c:pt idx="2">
                    <c:v>4.07</c:v>
                  </c:pt>
                  <c:pt idx="3">
                    <c:v>4.78</c:v>
                  </c:pt>
                  <c:pt idx="4">
                    <c:v>5.74</c:v>
                  </c:pt>
                  <c:pt idx="5">
                    <c:v>7.17</c:v>
                  </c:pt>
                  <c:pt idx="6">
                    <c:v>9.56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1.488</c:v>
                </c:pt>
                <c:pt idx="1">
                  <c:v>1.229</c:v>
                </c:pt>
                <c:pt idx="2">
                  <c:v>1.099</c:v>
                </c:pt>
                <c:pt idx="3">
                  <c:v>1</c:v>
                </c:pt>
                <c:pt idx="4">
                  <c:v>0.898</c:v>
                </c:pt>
                <c:pt idx="5">
                  <c:v>0.786</c:v>
                </c:pt>
                <c:pt idx="6">
                  <c:v>0.659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1.25</c:v>
                </c:pt>
              </c:strCache>
            </c:strRef>
          </c:tx>
          <c:spPr>
            <a:solidFill>
              <a:srgbClr val="B42318"/>
            </a:solidFill>
            <a:ln w="15875" cap="flat">
              <a:solidFill>
                <a:srgbClr val="B42318"/>
              </a:solidFill>
              <a:prstDash val="dash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</c:marker>
          <c:cat>
            <c:multiLvlStrRef>
              <c:f>Sheet1!$A$2:$A$8</c:f>
              <c:multiLvlStrCache>
                <c:ptCount val="7"/>
                <c:lvl>
                  <c:pt idx="0">
                    <c:v>2.39</c:v>
                  </c:pt>
                  <c:pt idx="1">
                    <c:v>3.35</c:v>
                  </c:pt>
                  <c:pt idx="2">
                    <c:v>4.07</c:v>
                  </c:pt>
                  <c:pt idx="3">
                    <c:v>4.78</c:v>
                  </c:pt>
                  <c:pt idx="4">
                    <c:v>5.74</c:v>
                  </c:pt>
                  <c:pt idx="5">
                    <c:v>7.17</c:v>
                  </c:pt>
                  <c:pt idx="6">
                    <c:v>9.56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1.25</c:v>
                </c:pt>
                <c:pt idx="4">
                  <c:v>1.25</c:v>
                </c:pt>
                <c:pt idx="5">
                  <c:v>1.25</c:v>
                </c:pt>
                <c:pt idx="6">
                  <c:v>1.25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0.80</c:v>
                </c:pt>
              </c:strCache>
            </c:strRef>
          </c:tx>
          <c:spPr>
            <a:solidFill>
              <a:srgbClr val="B42318"/>
            </a:solidFill>
            <a:ln w="15875" cap="flat">
              <a:solidFill>
                <a:srgbClr val="B42318"/>
              </a:solidFill>
              <a:prstDash val="dash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</c:marker>
          <c:cat>
            <c:multiLvlStrRef>
              <c:f>Sheet1!$A$2:$A$8</c:f>
              <c:multiLvlStrCache>
                <c:ptCount val="7"/>
                <c:lvl>
                  <c:pt idx="0">
                    <c:v>2.39</c:v>
                  </c:pt>
                  <c:pt idx="1">
                    <c:v>3.35</c:v>
                  </c:pt>
                  <c:pt idx="2">
                    <c:v>4.07</c:v>
                  </c:pt>
                  <c:pt idx="3">
                    <c:v>4.78</c:v>
                  </c:pt>
                  <c:pt idx="4">
                    <c:v>5.74</c:v>
                  </c:pt>
                  <c:pt idx="5">
                    <c:v>7.17</c:v>
                  </c:pt>
                  <c:pt idx="6">
                    <c:v>9.56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B243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1B2430"/>
                    </a:solidFill>
                    <a:latin typeface="+mn-lt"/>
                  </a:rPr>
                  <a:t>T50 (h)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.6"/>
        </c:scaling>
        <c:delete val="0"/>
        <c:axPos val="l"/>
        <c:majorGridlines>
          <c:spPr>
            <a:ln w="6350" cap="flat">
              <a:solidFill>
                <a:srgbClr val="D5DE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4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4C"/>
                </a:solidFill>
                <a:latin typeface="+mn-lt"/>
              </a:rPr>
              <a:t>Cmax GMR vs shape (T50 4.78 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Cmax GMR</c:v>
                </c:pt>
              </c:strCache>
            </c:strRef>
          </c:tx>
          <c:spPr>
            <a:solidFill>
              <a:srgbClr val="0F766E"/>
            </a:solidFill>
            <a:ln w="254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0.5</c:v>
                  </c:pt>
                  <c:pt idx="1">
                    <c:v>0.6</c:v>
                  </c:pt>
                  <c:pt idx="2">
                    <c:v>0.764</c:v>
                  </c:pt>
                  <c:pt idx="3">
                    <c:v>0.9</c:v>
                  </c:pt>
                  <c:pt idx="4">
                    <c:v>1.0</c:v>
                  </c:pt>
                  <c:pt idx="5">
                    <c:v>1.2</c:v>
                  </c:pt>
                  <c:pt idx="6">
                    <c:v>1.5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1.229</c:v>
                </c:pt>
                <c:pt idx="1">
                  <c:v>1.094</c:v>
                </c:pt>
                <c:pt idx="2">
                  <c:v>1</c:v>
                </c:pt>
                <c:pt idx="3">
                  <c:v>1.01</c:v>
                </c:pt>
                <c:pt idx="4">
                  <c:v>1.037</c:v>
                </c:pt>
                <c:pt idx="5">
                  <c:v>1.119</c:v>
                </c:pt>
                <c:pt idx="6">
                  <c:v>1.269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1.25</c:v>
                </c:pt>
              </c:strCache>
            </c:strRef>
          </c:tx>
          <c:spPr>
            <a:solidFill>
              <a:srgbClr val="B42318"/>
            </a:solidFill>
            <a:ln w="15875" cap="flat">
              <a:solidFill>
                <a:srgbClr val="B42318"/>
              </a:solidFill>
              <a:prstDash val="dash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</c:marker>
          <c:cat>
            <c:multiLvlStrRef>
              <c:f>Sheet1!$A$2:$A$8</c:f>
              <c:multiLvlStrCache>
                <c:ptCount val="7"/>
                <c:lvl>
                  <c:pt idx="0">
                    <c:v>0.5</c:v>
                  </c:pt>
                  <c:pt idx="1">
                    <c:v>0.6</c:v>
                  </c:pt>
                  <c:pt idx="2">
                    <c:v>0.764</c:v>
                  </c:pt>
                  <c:pt idx="3">
                    <c:v>0.9</c:v>
                  </c:pt>
                  <c:pt idx="4">
                    <c:v>1.0</c:v>
                  </c:pt>
                  <c:pt idx="5">
                    <c:v>1.2</c:v>
                  </c:pt>
                  <c:pt idx="6">
                    <c:v>1.5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1.25</c:v>
                </c:pt>
                <c:pt idx="4">
                  <c:v>1.25</c:v>
                </c:pt>
                <c:pt idx="5">
                  <c:v>1.25</c:v>
                </c:pt>
                <c:pt idx="6">
                  <c:v>1.25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0.80</c:v>
                </c:pt>
              </c:strCache>
            </c:strRef>
          </c:tx>
          <c:spPr>
            <a:solidFill>
              <a:srgbClr val="B42318"/>
            </a:solidFill>
            <a:ln w="15875" cap="flat">
              <a:solidFill>
                <a:srgbClr val="B42318"/>
              </a:solidFill>
              <a:prstDash val="dash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</c:marker>
          <c:cat>
            <c:multiLvlStrRef>
              <c:f>Sheet1!$A$2:$A$8</c:f>
              <c:multiLvlStrCache>
                <c:ptCount val="7"/>
                <c:lvl>
                  <c:pt idx="0">
                    <c:v>0.5</c:v>
                  </c:pt>
                  <c:pt idx="1">
                    <c:v>0.6</c:v>
                  </c:pt>
                  <c:pt idx="2">
                    <c:v>0.764</c:v>
                  </c:pt>
                  <c:pt idx="3">
                    <c:v>0.9</c:v>
                  </c:pt>
                  <c:pt idx="4">
                    <c:v>1.0</c:v>
                  </c:pt>
                  <c:pt idx="5">
                    <c:v>1.2</c:v>
                  </c:pt>
                  <c:pt idx="6">
                    <c:v>1.5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B243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1B2430"/>
                    </a:solidFill>
                    <a:latin typeface="+mn-lt"/>
                  </a:rPr>
                  <a:t>Weibull shape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.6"/>
        </c:scaling>
        <c:delete val="0"/>
        <c:axPos val="l"/>
        <c:majorGridlines>
          <c:spPr>
            <a:ln w="6350" cap="flat">
              <a:solidFill>
                <a:srgbClr val="D5DE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4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4C"/>
                </a:solidFill>
                <a:latin typeface="+mn-lt"/>
              </a:rPr>
              <a:t>Mean-curve peak (nM)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(102 min, b 1.18)</c:v>
                  </c:pt>
                  <c:pt idx="1">
                    <c:v>B (363 min, b 0.94)</c:v>
                  </c:pt>
                  <c:pt idx="2">
                    <c:v>C (1185 min, b 1.10)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11.4</c:v>
                </c:pt>
                <c:pt idx="1">
                  <c:v>4.8</c:v>
                </c:pt>
                <c:pt idx="2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(102 min, b 1.18)</c:v>
                  </c:pt>
                  <c:pt idx="1">
                    <c:v>B (363 min, b 0.94)</c:v>
                  </c:pt>
                  <c:pt idx="2">
                    <c:v>C (1185 min, b 1.10)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9.5</c:v>
                </c:pt>
                <c:pt idx="1">
                  <c:v>5</c:v>
                </c:pt>
                <c:pt idx="2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5DE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Felodipine ER · MBBE drug 2 · full work summary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Felodipine ER: everything we did, step by step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MBBE drug 2 · PK-Sim PBPK build, release-rate safe space, fed and dissolution gates, PBPK vs PopPK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PK-Sim, Julia BE simulation and Pumas PopPK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project on one page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flow step"/>
          <p:cNvSpPr/>
          <p:nvPr/>
        </p:nvSpPr>
        <p:spPr>
          <a:xfrm>
            <a:off x="548640" y="1600200"/>
            <a:ext cx="2036003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176168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Set-up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CVs, shipped model checks, particle size dropped</a:t>
            </a:r>
            <a:endParaRPr lang="en-US" sz="1600" dirty="0"/>
          </a:p>
        </p:txBody>
      </p:sp>
      <p:sp>
        <p:nvSpPr>
          <p:cNvPr id="7" name="flow arrow"/>
          <p:cNvSpPr/>
          <p:nvPr/>
        </p:nvSpPr>
        <p:spPr>
          <a:xfrm>
            <a:off x="2621219" y="2217420"/>
            <a:ext cx="155448" cy="18288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flow step"/>
          <p:cNvSpPr/>
          <p:nvPr/>
        </p:nvSpPr>
        <p:spPr>
          <a:xfrm>
            <a:off x="2813243" y="1600200"/>
            <a:ext cx="2036003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0403" y="1691640"/>
            <a:ext cx="176168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Refit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Weibull refit, disposition check, colonic CYP3A4 = 50%</a:t>
            </a:r>
            <a:endParaRPr lang="en-US" sz="1600" dirty="0"/>
          </a:p>
        </p:txBody>
      </p:sp>
      <p:sp>
        <p:nvSpPr>
          <p:cNvPr id="10" name="flow arrow"/>
          <p:cNvSpPr/>
          <p:nvPr/>
        </p:nvSpPr>
        <p:spPr>
          <a:xfrm>
            <a:off x="4885822" y="2217420"/>
            <a:ext cx="155448" cy="18288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flow step"/>
          <p:cNvSpPr/>
          <p:nvPr/>
        </p:nvSpPr>
        <p:spPr>
          <a:xfrm>
            <a:off x="5077846" y="1600200"/>
            <a:ext cx="2036003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5006" y="1691640"/>
            <a:ext cx="176168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Rebuild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Rebuild after lost work, population, coarse 13-run cross</a:t>
            </a:r>
            <a:endParaRPr lang="en-US" sz="1600" dirty="0"/>
          </a:p>
        </p:txBody>
      </p:sp>
      <p:sp>
        <p:nvSpPr>
          <p:cNvPr id="13" name="flow arrow"/>
          <p:cNvSpPr/>
          <p:nvPr/>
        </p:nvSpPr>
        <p:spPr>
          <a:xfrm>
            <a:off x="7150425" y="2217420"/>
            <a:ext cx="155448" cy="18288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flow step"/>
          <p:cNvSpPr/>
          <p:nvPr/>
        </p:nvSpPr>
        <p:spPr>
          <a:xfrm>
            <a:off x="7342449" y="1600200"/>
            <a:ext cx="2036003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79609" y="1691640"/>
            <a:ext cx="176168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Safe space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27-run safe space, fed + dissolution gates, PopPK comparison</a:t>
            </a:r>
            <a:endParaRPr lang="en-US" sz="1600" dirty="0"/>
          </a:p>
        </p:txBody>
      </p:sp>
      <p:sp>
        <p:nvSpPr>
          <p:cNvPr id="16" name="flow arrow"/>
          <p:cNvSpPr/>
          <p:nvPr/>
        </p:nvSpPr>
        <p:spPr>
          <a:xfrm>
            <a:off x="9415028" y="2217420"/>
            <a:ext cx="155448" cy="18288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flow step"/>
          <p:cNvSpPr/>
          <p:nvPr/>
        </p:nvSpPr>
        <p:spPr>
          <a:xfrm>
            <a:off x="9607052" y="1600200"/>
            <a:ext cx="2036003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44212" y="1691640"/>
            <a:ext cx="176168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Write-up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Summary doc, Word export and this deck</a:t>
            </a:r>
            <a:endParaRPr lang="en-US" sz="1600" dirty="0"/>
          </a:p>
        </p:txBody>
      </p:sp>
      <p:sp>
        <p:nvSpPr>
          <p:cNvPr id="19" name="stat card"/>
          <p:cNvSpPr/>
          <p:nvPr/>
        </p:nvSpPr>
        <p:spPr>
          <a:xfrm>
            <a:off x="548640" y="3291840"/>
            <a:ext cx="256786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383280"/>
            <a:ext cx="22935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000500"/>
            <a:ext cx="22935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PK-Sim population runs (100 subjects each)</a:t>
            </a:r>
            <a:endParaRPr lang="en-US" sz="1200" dirty="0"/>
          </a:p>
        </p:txBody>
      </p:sp>
      <p:sp>
        <p:nvSpPr>
          <p:cNvPr id="22" name="stat card"/>
          <p:cNvSpPr/>
          <p:nvPr/>
        </p:nvSpPr>
        <p:spPr>
          <a:xfrm>
            <a:off x="3390824" y="3291840"/>
            <a:ext cx="256786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7984" y="3383280"/>
            <a:ext cx="22935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4.37–5.23 h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3527984" y="4000500"/>
            <a:ext cx="22935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ABE safe T50 at reference shape (×0.91–1.09)</a:t>
            </a:r>
            <a:endParaRPr lang="en-US" sz="1200" dirty="0"/>
          </a:p>
        </p:txBody>
      </p:sp>
      <p:sp>
        <p:nvSpPr>
          <p:cNvPr id="25" name="stat card"/>
          <p:cNvSpPr/>
          <p:nvPr/>
        </p:nvSpPr>
        <p:spPr>
          <a:xfrm>
            <a:off x="6233008" y="3291840"/>
            <a:ext cx="256786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70168" y="3383280"/>
            <a:ext cx="22935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6370168" y="4000500"/>
            <a:ext cx="22935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Cmax vs observed (documented bias)</a:t>
            </a:r>
            <a:endParaRPr lang="en-US" sz="1200" dirty="0"/>
          </a:p>
        </p:txBody>
      </p:sp>
      <p:sp>
        <p:nvSpPr>
          <p:cNvPr id="28" name="stat card"/>
          <p:cNvSpPr/>
          <p:nvPr/>
        </p:nvSpPr>
        <p:spPr>
          <a:xfrm>
            <a:off x="9075191" y="3291840"/>
            <a:ext cx="256786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12351" y="3383280"/>
            <a:ext cx="22935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−7% / −15%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9212351" y="4000500"/>
            <a:ext cx="22935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PopPK vs PBPK GMR boundaries</a:t>
            </a:r>
            <a:endParaRPr lang="en-US" sz="1200" dirty="0"/>
          </a:p>
        </p:txBody>
      </p:sp>
      <p:sp>
        <p:nvSpPr>
          <p:cNvPr id="31" name="callout"/>
          <p:cNvSpPr/>
          <p:nvPr/>
        </p:nvSpPr>
        <p:spPr>
          <a:xfrm>
            <a:off x="548640" y="4800600"/>
            <a:ext cx="11094415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800600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Bottom line: the fasted T50 × shape safe space is narrow and a diagonal band. Cmax decides BE. PopPK agrees with PBPK near the reference but diverges off-shape.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Set-up and the model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Why felodipine, what the OSP model is, and the gates we set before any sweep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felodipine was chosen as MBBE drug 2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869043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Only OSP library compound that meets all three criteria: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free validated PBPK model, BCS II, and a real marketed ER product (Plendil ER)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Plendil ER has an FDA product-specific BE guidance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so the release-rate CQA carries over from metformin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Goal: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repeat the 2-D T50 × shape safe space on a second, mechanistically opposite drug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Original extra goal: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particle size and solubility CQAs (dropped, step 6)</a:t>
            </a:r>
            <a:endParaRPr lang="en-US" sz="1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92003" y="1600200"/>
          <a:ext cx="5951052" cy="914400"/>
        </p:xfrm>
        <a:graphic>
          <a:graphicData uri="http://schemas.openxmlformats.org/drawingml/2006/table">
            <a:tbl>
              <a:tblPr/>
              <a:tblGrid>
                <a:gridCol w="1954077"/>
                <a:gridCol w="1954077"/>
                <a:gridCol w="20428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Metformin XR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Felodipine ER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BCS class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III (high sol, low perm)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II (low sol, high perm)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Rate-limiting step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Permeability, upper-GI window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In-vivo dissolution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Clearance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Renal, transporters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Hepatic CYP3A4, high first pass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Oral bioavailability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~50–60%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~15%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Within-subject Cmax CV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~12%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~36%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Food effect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Modest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Large and erratic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OSP felodipine whole-body PBPK model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544440" cy="3916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Source: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github.com/Open-Systems-Pharmacology/Felodipine-Model (Bergmann et al., Pharmaceutics 2022;14:1474)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Built as a CYP3A4 victim drug for DDI work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not for formulation work; validated at OSP's 2-fold level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Fitted to 13 studies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(IV, solution, IR, ER) plus an itraconazole DDI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Structure: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PK-Sim whole body; GI tract as a chain of segments; drug dissolves, crosses the gut wall, meets gut-wall CYP3A4, then the liver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Our risk: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 DDI model can get AUC right but the absorption shape only roughly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7400" y="1600200"/>
          <a:ext cx="6275655" cy="914400"/>
        </p:xfrm>
        <a:graphic>
          <a:graphicData uri="http://schemas.openxmlformats.org/drawingml/2006/table">
            <a:tbl>
              <a:tblPr/>
              <a:tblGrid>
                <a:gridCol w="1913852"/>
                <a:gridCol w="2447951"/>
                <a:gridCol w="19138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Origin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logP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4.51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Fitted (OSP)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Fraction unbound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0.0036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Ushimura 2010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Solubility FaSSIF pH 6.5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 µg/mL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Söderlind 2010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CYP3A4 Michaelis–Menten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Km 2.81 µM; kcat 205 /min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Walsky 2004; kcat fitted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Unspecific hepatic CL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12.8 /min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Fitted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Gut-wall P ("P mucosa")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0.0892 cm/min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Fitted, sim-level override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Partitioning / permeability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Rodgers &amp; Rowland / PK-Sim std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PK-Sim methods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ER tablet Weibull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T50 286.95 min, lag 18.68, shape 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Fitted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IR tablet Weibull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T50 46.5 min, lag 0, shape 0.888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Fitted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Individual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European male 30 y, CYP3A4 t½ 36 h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OSP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acceptance gates were set before any CQA sweep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776"/>
                <a:gridCol w="4207280"/>
                <a:gridCol w="2743878"/>
                <a:gridCol w="35944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Gate (scope §3.9)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Final status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How it was closed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Oral IR / solution profile reproduced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Partly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Solution AUC 1.03; IR AUC overpredicted 1.58× (one dataset)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 fasted Cmax and AUC within 1.25-fold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Accepted with bias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AUC 1.04; Cmax 0.79, disposition-driven, documented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Fed arm shows direction and size of food effect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Failed → sensitivity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Model fed/fasted Cmax 0.96 vs 1.6–2.8 observed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Reference Weibull traceable to real dissolution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Closed, approximate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Abrahamsson 1994 tablets A/B/C within 1.25-fold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61027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Results from the sweep are therefore reported as a fasted claim with a documented Cmax bias and fed as a within-subject-variability sensitivity.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First model checks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Variability inputs, the shipped model against data, and dropping the particle-size CQA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Within-subject CVs sourced from the MHRA public assessment report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92057" cy="914400"/>
        </p:xfrm>
        <a:graphic>
          <a:graphicData uri="http://schemas.openxmlformats.org/drawingml/2006/table">
            <a:tbl>
              <a:tblPr/>
              <a:tblGrid>
                <a:gridCol w="2905536"/>
                <a:gridCol w="1452768"/>
                <a:gridCol w="21337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Study (Delofine XL vs Plendil)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Cmax CV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AUC CV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mg fasting, 2×2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35.7%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24.3% (AUC0–∞)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mg fed, 2×2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36.5%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22.2% (AUC0–∞)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mg steady state, replicate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21.6%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14.9% (AUCτ)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2.5 mg fasting, 4-period replicate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30.8% (CVwR ≈ 34%)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28.9%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53840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Source: UK MHRA PAR, Felodipine/Delofine XL (PL 20117/0397-0399); healthy males.</a:t>
            </a:r>
            <a:endParaRPr lang="en-US" sz="1100" dirty="0"/>
          </a:p>
        </p:txBody>
      </p:sp>
      <p:sp>
        <p:nvSpPr>
          <p:cNvPr id="7" name="stat card"/>
          <p:cNvSpPr/>
          <p:nvPr/>
        </p:nvSpPr>
        <p:spPr>
          <a:xfrm>
            <a:off x="7315017" y="1600200"/>
            <a:ext cx="4328038" cy="126492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52177" y="1691640"/>
            <a:ext cx="4053718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54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452177" y="2324100"/>
            <a:ext cx="405371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ABE 2×2 fasted (Cmax CV 35.7%, GMR 0.95, 80% power)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7315017" y="3048000"/>
            <a:ext cx="4328038" cy="126492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52177" y="3139440"/>
            <a:ext cx="4053718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56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452177" y="3771900"/>
            <a:ext cx="405371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Fed design (Cmax CV 36.5%)</a:t>
            </a:r>
            <a:endParaRPr lang="en-US" sz="1200" dirty="0"/>
          </a:p>
        </p:txBody>
      </p:sp>
      <p:sp>
        <p:nvSpPr>
          <p:cNvPr id="13" name="stat card"/>
          <p:cNvSpPr/>
          <p:nvPr/>
        </p:nvSpPr>
        <p:spPr>
          <a:xfrm>
            <a:off x="7315017" y="4495800"/>
            <a:ext cx="4328038" cy="126492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52177" y="4587240"/>
            <a:ext cx="4053718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24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452177" y="5219700"/>
            <a:ext cx="405371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RSABE / ABEL full replicate, CVwR 34%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Decision D1: ABE 2-way crossover is primary (FDA guidance); RSABE on Cmax is a sensitivity. Cmax is ~3× metformin's 12% CV; n = 48 is not reused.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shipped model underpredicts ER Cmax by about 22%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10048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1262344"/>
                <a:gridCol w="14426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ER 10 mg study (training)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Cmax p/o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AUC p/o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Edgar 1987 (n=12, 12 h)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Bailey 1996 (n=12, 24 h)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Gelal 2005 (n=10, serum)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1.05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1.21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Bailey 2003 (n=8, 8 h)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Geometric mean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0.78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1.03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33008" y="1600200"/>
            <a:ext cx="5410048" cy="3368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AUC passes our 1.25-fold criterion; Cmax fails.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OSP's "validated" means within 2-fold, which is looser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IR check (Edgar 1987, n=12):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Cmax 1.32×, AUC0–12 1.58× — overprediction from 2 h on, so likely disposition, not formulation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Snapshot formulations confirmed: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ER T50 286.95 min / lag 18.68 / shape 0.764; IR 46.5 / 0 / 0.888; solubility 12 µg/mL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particle radius fits the IR data better than the shipped Weibull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75655" cy="914400"/>
        </p:xfrm>
        <a:graphic>
          <a:graphicData uri="http://schemas.openxmlformats.org/drawingml/2006/table">
            <a:tbl>
              <a:tblPr/>
              <a:tblGrid>
                <a:gridCol w="1347792"/>
                <a:gridCol w="1010844"/>
                <a:gridCol w="1010844"/>
                <a:gridCol w="1095081"/>
                <a:gridCol w="968725"/>
                <a:gridCol w="8423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IR formulation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Cmax p/o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tmax (obs 1 h)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AUC0–12 p/o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Peaks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log-RMSE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Weibull (shipped)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1.32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1.2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1.58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 µm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2.69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0.65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1.61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µm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2.29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0.85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1.70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0.85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µm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1.68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1.05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2.00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 µm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1.31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1.2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2.24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 µm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1.23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5.75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2.50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µm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7.25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2.42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 late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 µm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9.5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1.57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 late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 µm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0.47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11.5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 late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098615" y="1600200"/>
            <a:ext cx="4544440" cy="4282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Why a double peak: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to lower Cmax, dissolution must slow; undissolved drug reaches the colon, dissolves late and escapes gut CYP3A4, so AUC rises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Structural trade-off: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no radius avoids both "Cmax too high" and "second peak"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PK-Sim 12.2 limit: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Parameter Identification cannot fit particle radius; the "radius" entries it offers are physiology — never fit those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Particle size and solubility were dropped as felodipine CQAs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54444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No public Plendil API particle size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— the patent (US 4,803,081) says only "micronized"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Plendil ER is surfactant-solubilised: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polyoxyl 40 hydrogenated castor oil in an HPMC gel matrix, so drug leaves in solution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Rat data run opposite to the model: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smaller particles gave higher bioavailability (25 µm 173% vs 200 µm 100%)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7400" y="1600200"/>
          <a:ext cx="6275655" cy="914400"/>
        </p:xfrm>
        <a:graphic>
          <a:graphicData uri="http://schemas.openxmlformats.org/drawingml/2006/table">
            <a:tbl>
              <a:tblPr/>
              <a:tblGrid>
                <a:gridCol w="489590"/>
                <a:gridCol w="2937541"/>
                <a:gridCol w="28485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MHRA CVs; ABE primary, RSABE sensitivity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Only public originator ISCV source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individual-subject exports yet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Wait for locked reference and population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Drop particle size and solubility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Structural trade-off; same lever (S/r); not a real-product CQA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Keep T50 × shape, high variability, food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 felodipine does best, with an FDA guidance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Particle-radius CQA needs another BCS II drug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yet screened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Next: refit the ER Weibull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 Cmax 0.78; Cmax decides BE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export problems led to a checklist used for every export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10048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 dot"/>
          <p:cNvSpPr/>
          <p:nvPr/>
        </p:nvSpPr>
        <p:spPr>
          <a:xfrm>
            <a:off x="731520" y="180136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70992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went wrong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50442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The rad10 export was really the reference sim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rad5 duplicated rad25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 re-copied download "(1)" was taken for new results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Two batches ran to 24 h instead of 96 h</a:t>
            </a:r>
            <a:endParaRPr lang="en-US" sz="1900" dirty="0"/>
          </a:p>
        </p:txBody>
      </p:sp>
      <p:sp>
        <p:nvSpPr>
          <p:cNvPr id="9" name="card"/>
          <p:cNvSpPr/>
          <p:nvPr/>
        </p:nvSpPr>
        <p:spPr>
          <a:xfrm>
            <a:off x="6233008" y="1600200"/>
            <a:ext cx="5410048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dot"/>
          <p:cNvSpPr/>
          <p:nvPr/>
        </p:nvSpPr>
        <p:spPr>
          <a:xfrm>
            <a:off x="6415888" y="1801368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5928" y="170992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Checklist from then 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2194560"/>
            <a:ext cx="50442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Configure → Administration: formulation matches the sim name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Output intervals end at 96 h and the chart reaches 96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Unique filename with radius/T50 and "96h"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All observed datasets on the chart; I check checksums, end time and parameter-vs-shape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audit: 34 datasets, no grapefruit arms, a train/test split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51052" cy="914400"/>
        </p:xfrm>
        <a:graphic>
          <a:graphicData uri="http://schemas.openxmlformats.org/drawingml/2006/table">
            <a:tbl>
              <a:tblPr/>
              <a:tblGrid>
                <a:gridCol w="1341082"/>
                <a:gridCol w="46099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Group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Datasets in the OSP snapshot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 10 mg train (4)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Edgar 1987, Bailey 1996, Bailey 2003, Gelal 2005 (serum)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 10 mg test (6)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Dresser 2002/2017, Bailey 1998/2000, Lundahl 1997, Madsen 1996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ER, other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Multiple dose: Aberg 1997, Bailey 1995, Lundahl 1998, Blychert 1990; 5/2.5 mg: Goosen 2004, Dresser 2000, Jalava 1997; Guo 2007 (unattached)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IR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Edgar 1987, Smith 1987, Edgar 1992, Bailey 1993, Bratel 1989 (fed), Blychert 1990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Solution / IV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Edgar 1987, Blychert 1990 / Lundahl 1997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774012" y="1600200"/>
            <a:ext cx="4869043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Bailey 1996/2003 and Gelal 2005 are control arms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(observed Cmax 6.1–7.3 nM; an inhibitor arm would be 2–3× higher)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Correction: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the 0.78 Cmax was on the 4 training studies; the 6 test studies sit in a separate sim; both shipped sims end at 24 h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Blychert 1990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has ER "market vs trial" tablets — a real BE-type comparison for later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No fed ER data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in the snapshot; Bratel 1989 (IR 5 mg) is the only fed set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Refit and reference lock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Weibull refit, disposition diagnosis, colonic CYP3A4, and the locked reference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all 10 fasted ER studies the profile is too flat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626450" cy="914400"/>
        </p:xfrm>
        <a:graphic>
          <a:graphicData uri="http://schemas.openxmlformats.org/drawingml/2006/table">
            <a:tbl>
              <a:tblPr/>
              <a:tblGrid>
                <a:gridCol w="681994"/>
                <a:gridCol w="2045982"/>
                <a:gridCol w="1363988"/>
                <a:gridCol w="15344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Study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Cmax p/o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AUC0–tlast p/o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Edgar 1987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Bailey 1996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1.07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Bailey 2003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0.76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1.04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Gelal 2005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1.05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1.23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Lundahl 1997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0.83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1.16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Dresser 2017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0.76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Dresser 2002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1.32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Bailey 2000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0.89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1.23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Bailey 1998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0.49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Madsen 1996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1.43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GM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train / test / all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0.78 / 0.80 / 0.79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1.04 / 1.12 / 1.09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449410" y="1600200"/>
          <a:ext cx="5193646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49410" y="4389120"/>
            <a:ext cx="5193646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Too much drug early, too little at the peak, too much in the tail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— the signature of Weibull shape &lt; 1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Predicted Cmax 4.60 nM at 3.0 h vs observed 4.4–9.4 nM at 2.5–5 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Weibull refit worked as a fit but did not fix Cmax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5" name="stat card"/>
          <p:cNvSpPr/>
          <p:nvPr/>
        </p:nvSpPr>
        <p:spPr>
          <a:xfrm>
            <a:off x="548640" y="1600200"/>
            <a:ext cx="4328038" cy="1167384"/>
          </a:xfrm>
          <a:prstGeom prst="roundRect">
            <a:avLst>
              <a:gd name="adj" fmla="val 62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405371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T50 296 ± 52 min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75332"/>
            <a:ext cx="405371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95% CI ≈ 244–348; shipped 287 inside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548640" y="2950464"/>
            <a:ext cx="4328038" cy="1167384"/>
          </a:xfrm>
          <a:prstGeom prst="roundRect">
            <a:avLst>
              <a:gd name="adj" fmla="val 62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041904"/>
            <a:ext cx="405371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0.89 ± 0.08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25596"/>
            <a:ext cx="405371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≈ 0.81–0.97; shipped 0.764 outside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548640" y="4300728"/>
            <a:ext cx="4328038" cy="1167384"/>
          </a:xfrm>
          <a:prstGeom prst="roundRect">
            <a:avLst>
              <a:gd name="adj" fmla="val 62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392168"/>
            <a:ext cx="405371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−0.53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975860"/>
            <a:ext cx="4053718" cy="44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T50–shape correlation: not confounded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742432"/>
            <a:ext cx="4328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PI on the 4 training studies, log scaling, Levenberg–Marquardt, 10 random starts, lag fixed; all starts reached total error 0.95.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50998" y="1600200"/>
          <a:ext cx="6492057" cy="914400"/>
        </p:xfrm>
        <a:graphic>
          <a:graphicData uri="http://schemas.openxmlformats.org/drawingml/2006/table">
            <a:tbl>
              <a:tblPr/>
              <a:tblGrid>
                <a:gridCol w="1522275"/>
                <a:gridCol w="940229"/>
                <a:gridCol w="940229"/>
                <a:gridCol w="761138"/>
                <a:gridCol w="761138"/>
                <a:gridCol w="761138"/>
                <a:gridCol w="8059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Cmax GM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AUC GM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0–2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2–6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6–12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12–24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train, shipped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1.31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1.83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train, refit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1.31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1.82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test, shipped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1.24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4.60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test, refit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1.36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4.74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callout"/>
          <p:cNvSpPr/>
          <p:nvPr/>
        </p:nvSpPr>
        <p:spPr>
          <a:xfrm>
            <a:off x="5150998" y="3800246"/>
            <a:ext cx="6492057" cy="1225296"/>
          </a:xfrm>
          <a:prstGeom prst="roundRect">
            <a:avLst>
              <a:gd name="adj" fmla="val 597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33878" y="3800246"/>
            <a:ext cx="6126297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refit fixes the early phase, slightly worsens the tail and leaves Cmax at 0.77–0.79. Observed profiles peak higher and fall faster at the same AUC — a release change cannot do that, so the cause is disposition.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and solution: disposition is off, oral AUC right by cancellation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13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10048" cy="914400"/>
        </p:xfrm>
        <a:graphic>
          <a:graphicData uri="http://schemas.openxmlformats.org/drawingml/2006/table">
            <a:tbl>
              <a:tblPr/>
              <a:tblGrid>
                <a:gridCol w="1951165"/>
                <a:gridCol w="1152961"/>
                <a:gridCol w="1419029"/>
                <a:gridCol w="8868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IV 1.5 mg, Lundahl 1997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Observed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Ratio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AUC∞ (µmol·min/L)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3.63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4.59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Cmax end of infusion (nM)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22.3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30.0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 (mL/min/kg)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14.7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11.6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1.27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Vss (mL/kg)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4985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3090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1.61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t½ (h)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8.1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1.42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88267"/>
            <a:ext cx="5410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Oral solution 10 mg (Edgar 1987): AUC∞ 1.03, Cmax 1.24. Implied F: model 0.20 vs observed 0.15 (literature ~15%).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233008" y="1600200"/>
            <a:ext cx="5410048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CL too high (×1.27) and F too high (×1.3) cancel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in oral AUC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Excess Vss and t½ flatten slow-input profiles: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low peak, high tail — most of the ER Cmax 0.79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ER tail excess (1.8–4.7) is bigger than IV or solution tails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so a second, ER-specific cause is likely: colonic absorption without gut first pass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3794760"/>
            <a:ext cx="541004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dot"/>
          <p:cNvSpPr/>
          <p:nvPr/>
        </p:nvSpPr>
        <p:spPr>
          <a:xfrm>
            <a:off x="6415888" y="39959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35928" y="390448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Options considered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15888" y="4389120"/>
            <a:ext cx="50442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— accept the documented Cmax bias, use only T/R ratios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 — recalibrate disposition (risks OSP's DDI validation)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 — colon-specific lever, then T50 refit (chosen)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Colonic CYP3A4 at 50% of the small intestine fixes the tail, not Cmax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14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59253" cy="914400"/>
        </p:xfrm>
        <a:graphic>
          <a:graphicData uri="http://schemas.openxmlformats.org/drawingml/2006/table">
            <a:tbl>
              <a:tblPr/>
              <a:tblGrid>
                <a:gridCol w="1621490"/>
                <a:gridCol w="853416"/>
                <a:gridCol w="981428"/>
                <a:gridCol w="981428"/>
                <a:gridCol w="162149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Colonic CYP3A4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Cmax GM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AUC GM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12–24 h train / test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 (shipped)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~0.20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0.789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1.089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1.83 / 4.60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10% of SI (0.0073)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0.200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0.789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1.068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1.49 / 3.93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25% of SI (0.018)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0.186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0.788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1.054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1.27 / 3.48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50% of SI (0.036)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0.176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0.787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1.042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1.12 / 3.14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61027"/>
            <a:ext cx="605925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Shipped model: CYP3A4 in liver and small-intestine segments (0.073) but none in the large intestine, while AADAC and P-gp do have colon entries.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6882213" y="1600200"/>
            <a:ext cx="4760842" cy="3215640"/>
          </a:xfrm>
          <a:prstGeom prst="roundRect">
            <a:avLst>
              <a:gd name="adj" fmla="val 22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dot"/>
          <p:cNvSpPr/>
          <p:nvPr/>
        </p:nvSpPr>
        <p:spPr>
          <a:xfrm>
            <a:off x="7065093" y="18013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85133" y="1709928"/>
            <a:ext cx="4075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Reference locked (decision)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065093" y="2194560"/>
            <a:ext cx="4395082" cy="248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Shipped ER Weibull: T50 286.95 min, lag 18.68 min, shape 0.764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Colonic CYP3A4 = 0.036 in all large-intestine segments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Second refit (step 5c) skipped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Cmax bias ≈ 0.79 documented as disposition-driven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882213" y="5090160"/>
            <a:ext cx="476084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Logged as a deviation from scope §3.9: gates #2–#4 not yet met, so sweep results were provisional until they closed.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did not match, and the work was not saved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15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10048" cy="914400"/>
        </p:xfrm>
        <a:graphic>
          <a:graphicData uri="http://schemas.openxmlformats.org/drawingml/2006/table">
            <a:tbl>
              <a:tblPr/>
              <a:tblGrid>
                <a:gridCol w="1803349"/>
                <a:gridCol w="1803349"/>
                <a:gridCol w="18033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Colon-50 clone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New individual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Cmax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4.59 nM @ 3.0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4.72 nM @ 2.75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0.176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0.159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Fraction absorbed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0.981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0.959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 (mL/min/kg)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14.27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14.35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0–2 h p/o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1.31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33008" y="1600200"/>
            <a:ext cx="5410048" cy="4373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Stage 6a: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new profile `CYP3A4 36 h colon50` and individual `European_colonCYP3A4_50`, sim switched via Configure — check failed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Suspected cause: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OSP stores 27 simulation-level overrides that Configure may drop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Later finding: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none of this PK-Sim work was saved (clones, profile, individual); only the xlsx exports survived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Rule since: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always end a PK-Sim stage with File → Save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Rebuild and population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override hunt, the virtual population, BE code, and the coarse cross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drops OSP's simulation overrides; Clone keeps them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16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51052" cy="914400"/>
        </p:xfrm>
        <a:graphic>
          <a:graphicData uri="http://schemas.openxmlformats.org/drawingml/2006/table">
            <a:tbl>
              <a:tblPr/>
              <a:tblGrid>
                <a:gridCol w="1341082"/>
                <a:gridCol w="3352706"/>
                <a:gridCol w="125726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we found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9.8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Original individual checked: LI CYP3A4 = 0, SI 0.07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Clean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9.9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First snapshot sent was the older particle-size project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Wrong file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9.10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 P(int↔cell) = OSP fitted "P mucosa" 0.0892 cm/min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cosmetic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9.11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Rebuild without re-entry = earlier failure to the digit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Overrides absent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9.12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Screenshots: P mucosa survived Configure (User Defined)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Refuted for 22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9.13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Snapshot diff: only Tablet time delay factor missing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Cause found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9.14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v2 with delay factor 0.0695415108 re-entered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Match to 3.3e-5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6774012" y="1600200"/>
            <a:ext cx="4869043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 dot"/>
          <p:cNvSpPr/>
          <p:nvPr/>
        </p:nvSpPr>
        <p:spPr>
          <a:xfrm>
            <a:off x="6956892" y="18013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76932" y="1709928"/>
            <a:ext cx="41832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27 OSP overrides (reference/ER_tablet_10mg_sim_overrides.csv)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56892" y="2194560"/>
            <a:ext cx="450328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22 × gut-wall P (interstitial↔intracellular) = 0.0891674187 cm/min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Tablet time delay factor = 0.0695415108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Water volume 3.5 mL/kg; Undefined Liver × 3</a:t>
            </a:r>
            <a:endParaRPr lang="en-US" sz="1600" dirty="0"/>
          </a:p>
        </p:txBody>
      </p:sp>
      <p:sp>
        <p:nvSpPr>
          <p:cNvPr id="10" name="callout"/>
          <p:cNvSpPr/>
          <p:nvPr/>
        </p:nvSpPr>
        <p:spPr>
          <a:xfrm>
            <a:off x="6774012" y="4434840"/>
            <a:ext cx="4869043" cy="987552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56892" y="4434840"/>
            <a:ext cx="4503283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Configure → individual drops the delay factor. Configure → population also drops the 22 P mucosa values. Clone keeps everything.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Reference restored in Felodipine_ER_colon50.pksim5: Cmax 4.588 nM @ 3.0 h, AUC0–96 4.383 µM·min, F 0.1765, all-10 Cmax 0.787 / AUC 1.042.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100-subject population, reused for every formulation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17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544440" cy="914400"/>
        </p:xfrm>
        <a:graphic>
          <a:graphicData uri="http://schemas.openxmlformats.org/drawingml/2006/table">
            <a:tbl>
              <a:tblPr/>
              <a:tblGrid>
                <a:gridCol w="1457651"/>
                <a:gridCol w="30867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Pop_felo_100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Base individual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European_colonCYP3A4_50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Size / sex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subjects, 50 F / 50 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18.2–54.7 y (requested 18–55)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Weight / BMI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41–98 kg / 19–30 kg/m²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Dose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mg ER, single dose, fasted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Run length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0–96 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Overrides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23 re-entered by hand in Pop_ref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10713"/>
            <a:ext cx="454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100, not 24: trials need ~54 subjects and resampling from 24 physiologies duplicates heavily. Every sweep run is a clone of Pop_ref, so test and reference are paired.</a:t>
            </a:r>
            <a:endParaRPr lang="en-US" sz="11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7400" y="1600200"/>
          <a:ext cx="6275655" cy="914400"/>
        </p:xfrm>
        <a:graphic>
          <a:graphicData uri="http://schemas.openxmlformats.org/drawingml/2006/table">
            <a:tbl>
              <a:tblPr/>
              <a:tblGrid>
                <a:gridCol w="1502622"/>
                <a:gridCol w="1016479"/>
                <a:gridCol w="928090"/>
                <a:gridCol w="883895"/>
                <a:gridCol w="1193258"/>
                <a:gridCol w="7513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Pop_ref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Individual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Median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GM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Range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BSV CV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Cmax (nM)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4.59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5.26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5.16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1.65–10.98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tmax (h)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2.75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2.71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1.9–3.75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AUC0–96 (µM·min)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4.38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5.18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5.16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1.39–12.98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39%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67400" y="3719413"/>
            <a:ext cx="6275655" cy="1752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~1.15× above the individual, uniformly over time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— fits the demographics (half lighter women, fixed dose); not the missing-delay signature (that is early up, late down)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Accepted as a correct build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be_utils.jl was refactored so one BE engine serves both drugs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951052" cy="3764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Metformin API unchanged: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all 5 metformin output CSVs byte-identical before and after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Added: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DRUG_CONFIG, wsv_cv(drug, arm, endpoint), parse_formulation (T50, shape), drug-aware loader (venous blood rows only, errors on duplicates)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Added: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power_abe_2x2 / sample_size_abe_2x2, full-replicate FDA RSABE (sWR ≥ 0.294) and EMA ABEL (cap at CVwR 50%)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21 tests pass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(programs/julia/test_be_utils.jl)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74012" y="1600200"/>
          <a:ext cx="4869043" cy="914400"/>
        </p:xfrm>
        <a:graphic>
          <a:graphicData uri="http://schemas.openxmlformats.org/drawingml/2006/table">
            <a:tbl>
              <a:tblPr/>
              <a:tblGrid>
                <a:gridCol w="3246029"/>
                <a:gridCol w="16230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at CV 0.20 / 0.25 / 0.30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 / 28 / 40 (PowerTOST)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Felodipine fasted Cmax CV 0.357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= 54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Felodipine fed Cmax CV 0.365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= 56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Loader reproduces T50 2.39 h GMR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1.488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RSABE self-comparison, n = 24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97% pass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True GMR 1.25: ABE / RSABE pass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4.6% / 20.8%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774012" y="4469100"/>
            <a:ext cx="486904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The 20.8% at GMR 1.25 is the known RSABE type I inflation — worth reporting.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Coarse cross (13 runs): Cmax moves with T50 and is U-shaped in shape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410048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33008" y="1600200"/>
          <a:ext cx="5410048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Joint ABE power ≥ 0.80 (n = 54) only inside T50 ×0.85–1.2; shape tolerates 0.764→1.0 but not 0.6 or 1.2. AUC passes almost everywhere. Every T50/shape was verified from the lumen fraction dissolved.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The safe space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2-D fill, edge runs, and the 27-formulation result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formulations were simulated in three rounds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</a:t>
            </a:r>
            <a:endParaRPr lang="en-US" sz="1300" dirty="0"/>
          </a:p>
        </p:txBody>
      </p:sp>
      <p:pic>
        <p:nvPicPr>
          <p:cNvPr id="5" name="Image 0" descr="fig_design_no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67704"/>
            <a:ext cx="6708459" cy="41741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31419" y="1600200"/>
            <a:ext cx="4111636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Coarse cross (12 + ref):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T50 axis and shape axis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2-D fill (10):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T50 4.07 and 5.74 h × shapes 0.6–1.2, plus 4.42 and 5.26 h at 0.764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Band extension (4):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6.31 h × 0.6/1.0/1.2 and 6.88 h × 1.2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Upload checks caught: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 missing PK-Analyses file (re-exported) and "5.7 h" files that were really 344 min (renamed 5.74 h)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sweep results, runs 1–14: relative BA and power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21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2040"/>
                <a:gridCol w="889426"/>
                <a:gridCol w="1357544"/>
                <a:gridCol w="1497980"/>
                <a:gridCol w="1170297"/>
                <a:gridCol w="1123485"/>
                <a:gridCol w="1217109"/>
                <a:gridCol w="1076673"/>
                <a:gridCol w="102986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T50 h (min)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Shape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 Cmax GMR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 AUC0–t GMR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ABE Cmax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ABE AUC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ABE joint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RSABE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ABEL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2.39 (143)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1.488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1.040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3.35 (201)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1.229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1.026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4.07 (244)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1.189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4.07 (244)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1.099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1.013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4.07 (244)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1.116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1.032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4.07 (244)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1.149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1.040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4.07 (244)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1.243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1.050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4.42 (265)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1.047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4.78 (287)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1.229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4.78 (287)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1.094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0.951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4.78 (287) ref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1.000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1.000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4.78 (287)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1.010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1.022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4.78 (287)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1.037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1.032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4.78 (287)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1.119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1.045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BA = paired test/reference geometric-mean ratio in 100 subjects. Power = share of 1000 simulated trials passing: ABE 2×2 n = 54 (CV Cmax 35.7%, AUC0–t 25.3%); RSABE / ABEL on Cmax, n = 24, CVwR 34%. Shaded: joint power ≥ 0.80.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sweep results, runs 15–27: relative BA and power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22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2040"/>
                <a:gridCol w="889426"/>
                <a:gridCol w="1357544"/>
                <a:gridCol w="1497980"/>
                <a:gridCol w="1170297"/>
                <a:gridCol w="1123485"/>
                <a:gridCol w="1217109"/>
                <a:gridCol w="1076673"/>
                <a:gridCol w="102986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T50 h (min)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Shape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 Cmax GMR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 AUC0–t GMR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ABE Cmax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ABE AUC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ABE joint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RSABE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ABEL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4.78 (287)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1.269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1.055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5.26 (316)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0.946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5.74 (344)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0.927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5.74 (344)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0.898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0.981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5.74 (344)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5.74 (344)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0.922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1.020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5.74 (344)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1.036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6.31 (379)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0.947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0.913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6.31 (379)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0.865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1.012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6.31 (379)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0.927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1.030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6.88 (413)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0.873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1.023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0.35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7.17 (430)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0.786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0.952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0.03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9.56 (574)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0.659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0.904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AUC0–t power is ≥ 0.85 everywhere except 4.78 h / shape 0.5 and 9.56 h (0.80–0.81): Cmax is the binding metric. Scripts felo_02_be_sweep.jl → output_sweep_2d/.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 space is a diagonal band, not a box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23</a:t>
            </a:r>
            <a:endParaRPr lang="en-US" sz="1300" dirty="0"/>
          </a:p>
        </p:txBody>
      </p:sp>
      <p:pic>
        <p:nvPicPr>
          <p:cNvPr id="5" name="Image 0" descr="fig_safespace_2d_j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13" y="1600200"/>
            <a:ext cx="6232712" cy="4709160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017" y="1600200"/>
          <a:ext cx="4328038" cy="914400"/>
        </p:xfrm>
        <a:graphic>
          <a:graphicData uri="http://schemas.openxmlformats.org/drawingml/2006/table">
            <a:tbl>
              <a:tblPr/>
              <a:tblGrid>
                <a:gridCol w="766423"/>
                <a:gridCol w="1217261"/>
                <a:gridCol w="1217261"/>
                <a:gridCol w="11270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Shape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ABE n=54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RSABE n=24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ABEL n=24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5.25–5.84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4.73–≥6.31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4.90–≥6.31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4.37–5.23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4.07–5.63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4.19–5.46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4.47–5.28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4.16–5.66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4.29–5.49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4.67–5.49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4.36–5.87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4.49–5.70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5.24–6.10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4.90–6.50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5.04–6.33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315017" y="3785982"/>
            <a:ext cx="4328038" cy="2026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T50 range (h) with joint power ≥ 0.80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At fixed T50, Cmax is lowest near shape 0.8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so a slower T50 is offset by moving shape either way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Method: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log GMR interpolated on a Delaunay mesh, isotonic calibration to power (within 0.036 of all 27 runs)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Fed and dissolution gates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Gate #3 food effect and gate #4 in-vitro link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 literature sets the target: Cmax up 1.6–2.8×, AUC unchanged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24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51052" cy="914400"/>
        </p:xfrm>
        <a:graphic>
          <a:graphicData uri="http://schemas.openxmlformats.org/drawingml/2006/table">
            <a:tbl>
              <a:tblPr/>
              <a:tblGrid>
                <a:gridCol w="2179259"/>
                <a:gridCol w="1676353"/>
                <a:gridCol w="20954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Fed / fasted Cmax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Note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Sandoz CA monograph (Plendil arm)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×2.77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AUC∞ ×1.09; tmax 4.5 h both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US Plendil label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≈ +60%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AUC unchanged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Weitschies 2005 (n=6)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×1.63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Bursts from proximal stomach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Apotex CA monograph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×3.54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Different subjects; not used</a:t>
                      </a:r>
                      <a:endParaRPr lang="en-US" sz="16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61027"/>
            <a:ext cx="5951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Profiles: Kim 2014 PLoS One figs (digitisable, &lt; 8 h); Abrahamsson 1993 Pharm Res (paywalled). Registered fed BE trials (NCT02311530, NCT01630902) posted no results. Full write-up: reference/fed-arm-literature.md.</a:t>
            </a:r>
            <a:endParaRPr lang="en-US" sz="1100" dirty="0"/>
          </a:p>
        </p:txBody>
      </p:sp>
      <p:sp>
        <p:nvSpPr>
          <p:cNvPr id="7" name="stat card"/>
          <p:cNvSpPr/>
          <p:nvPr/>
        </p:nvSpPr>
        <p:spPr>
          <a:xfrm>
            <a:off x="6774012" y="1600200"/>
            <a:ext cx="4869043" cy="14478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11172" y="1691640"/>
            <a:ext cx="459472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1.6–2.8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911172" y="2415540"/>
            <a:ext cx="4594723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Target Cmax fed/fasted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6774012" y="3230880"/>
            <a:ext cx="4869043" cy="14478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11172" y="3322320"/>
            <a:ext cx="459472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1.0–1.1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911172" y="4046220"/>
            <a:ext cx="4594723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Target AUC fed/fasted</a:t>
            </a:r>
            <a:endParaRPr lang="en-US" sz="1200" dirty="0"/>
          </a:p>
        </p:txBody>
      </p:sp>
      <p:sp>
        <p:nvSpPr>
          <p:cNvPr id="13" name="stat card"/>
          <p:cNvSpPr/>
          <p:nvPr/>
        </p:nvSpPr>
        <p:spPr>
          <a:xfrm>
            <a:off x="6774012" y="4861560"/>
            <a:ext cx="4869043" cy="14478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11172" y="4953000"/>
            <a:ext cx="459472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 / 0.89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911172" y="5676900"/>
            <a:ext cx="4594723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Fasted model vs Sandoz Plendil: Cmax / AUC∞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cannot produce the food effect, so fed became a sensitivity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25</a:t>
            </a:r>
            <a:endParaRPr lang="en-US" sz="1300" dirty="0"/>
          </a:p>
        </p:txBody>
      </p:sp>
      <p:sp>
        <p:nvSpPr>
          <p:cNvPr id="5" name="stat card"/>
          <p:cNvSpPr/>
          <p:nvPr/>
        </p:nvSpPr>
        <p:spPr>
          <a:xfrm>
            <a:off x="548640" y="1600200"/>
            <a:ext cx="2459663" cy="1842516"/>
          </a:xfrm>
          <a:prstGeom prst="roundRect">
            <a:avLst>
              <a:gd name="adj" fmla="val 39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2185343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12898"/>
            <a:ext cx="2185343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Cmax fed/fasted (target 1.6–2.8)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3282623" y="1600200"/>
            <a:ext cx="2459663" cy="1842516"/>
          </a:xfrm>
          <a:prstGeom prst="roundRect">
            <a:avLst>
              <a:gd name="adj" fmla="val 39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9783" y="1691640"/>
            <a:ext cx="2185343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19783" y="2612898"/>
            <a:ext cx="2185343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AUC∞ fed/fasted (target ≈ 1.0–1.1)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548640" y="3625596"/>
            <a:ext cx="2459663" cy="1842516"/>
          </a:xfrm>
          <a:prstGeom prst="roundRect">
            <a:avLst>
              <a:gd name="adj" fmla="val 39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717036"/>
            <a:ext cx="2185343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2.75 → 5.0 h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638294"/>
            <a:ext cx="2185343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Median tmax (observed unchanged at 4.5 h)</a:t>
            </a:r>
            <a:endParaRPr lang="en-US" sz="1200" dirty="0"/>
          </a:p>
        </p:txBody>
      </p:sp>
      <p:sp>
        <p:nvSpPr>
          <p:cNvPr id="14" name="stat card"/>
          <p:cNvSpPr/>
          <p:nvPr/>
        </p:nvSpPr>
        <p:spPr>
          <a:xfrm>
            <a:off x="3282623" y="3625596"/>
            <a:ext cx="2459663" cy="1842516"/>
          </a:xfrm>
          <a:prstGeom prst="roundRect">
            <a:avLst>
              <a:gd name="adj" fmla="val 39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9783" y="3717036"/>
            <a:ext cx="2185343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Unchanged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3419783" y="4638294"/>
            <a:ext cx="2185343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Safe space with fed CV 36.5%, n = 56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42432"/>
            <a:ext cx="51936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Pop_fed_ref = clone of Pop_ref + high-fat breakfast event at t = 0; Configure kept the P mucosa values this time. The meal template used was not recorded.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16606" y="1600200"/>
            <a:ext cx="5626450" cy="3596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Why it fails: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the Weibull release is a fixed function of time, so the meal only slows gastric emptying — Cmax falls slightly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What really happens: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the tablet sits in the proximal stomach, released drug empties in bursts and more escapes gut-wall extraction (Weitschies 2005, Bergstrand 2009)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PK-Sim's meal event has neither mechanism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Decision (option A):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claim the fasted safe space only; fed = within-subject-variability sensitivity (scope §10)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Dissolution link: the in-vivo Weibull fails USP Test 1 at 10 h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26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51052" cy="914400"/>
        </p:xfrm>
        <a:graphic>
          <a:graphicData uri="http://schemas.openxmlformats.org/drawingml/2006/table">
            <a:tbl>
              <a:tblPr/>
              <a:tblGrid>
                <a:gridCol w="2765982"/>
                <a:gridCol w="1005812"/>
                <a:gridCol w="1005812"/>
                <a:gridCol w="11734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USP Felodipine ER Test 1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2 h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6 h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10 h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Limits (App. 2, 50 rpm, pH 6.5 + 1% SLS)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10–30%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42–68%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75%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Reference in-vivo Weibull, read as in vitro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26.9%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54.7%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69.6% — fails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305739"/>
            <a:ext cx="5951052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Real Plendil passes USP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so in vitro and in vivo differ in shape, not just timescale; a 1:1 map is wrong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Abrahamsson 1994 (Pharm Res):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tablets A/B/C on the same HPMC platform, n = 16, IVIVC r² 0.94–0.97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Its SLS 50 rpm row = USP Test 1: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reference MDT 9.4 h sits inside the USP-implied 4.5–12.9 h — consistent, but a weak constraint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Vetchy 2007 (no basket) cannot be chained to the correlation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774012" y="1600200"/>
            <a:ext cx="4869043" cy="4373880"/>
          </a:xfrm>
          <a:prstGeom prst="roundRect">
            <a:avLst>
              <a:gd name="adj" fmla="val 16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dot"/>
          <p:cNvSpPr/>
          <p:nvPr/>
        </p:nvSpPr>
        <p:spPr>
          <a:xfrm>
            <a:off x="6956892" y="18013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76932" y="1709928"/>
            <a:ext cx="41832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Proposal that followed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956892" y="2194560"/>
            <a:ext cx="4503283" cy="364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Fit Weibulls to the paper's in-vivo dissolution for tablets A, B and C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Run each as a clone of Pop_ref in PK-Sim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Compare Cmax levels and Cmax ratios with the observed mean curves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Use it as an external check of the model's Cmax sensitivity to release rate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Tablets A/B/C: three real formulations reproduced within 1.25-fold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27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410048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Model / observed: A 1.20, B 0.96, C 0.91.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600200"/>
          <a:ext cx="5410048" cy="914400"/>
        </p:xfrm>
        <a:graphic>
          <a:graphicData uri="http://schemas.openxmlformats.org/drawingml/2006/table">
            <a:tbl>
              <a:tblPr/>
              <a:tblGrid>
                <a:gridCol w="1492427"/>
                <a:gridCol w="1212597"/>
                <a:gridCol w="1305874"/>
                <a:gridCol w="13991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Ratio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Observed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Difference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Cmax B/C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2.31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2.17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+6%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Cmax A/B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2.36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1.90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+24%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AUC C/B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0.80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0.93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slow tablet under-absorbed</a:t>
                      </a:r>
                      <a:endParaRPr lang="en-US" sz="15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33008" y="3386572"/>
            <a:ext cx="541004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Slow side right (+6%); fast side overstated ~25%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so the band's short-T50 edge is conservative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Gate #4 closed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as "consistent, approximate, with a documented fast-side conservatism"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Caveats: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Weibulls from deconvolution, digitised by eye; observed are young Swedish men, n = 16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PBPK vs PopPK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Same pipeline as metformin: fit PopPK to simulated studies and compare BE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PopPK set-up: per-arm fits on rich simulated studies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28</a:t>
            </a:r>
            <a:endParaRPr lang="en-US" sz="1300" dirty="0"/>
          </a:p>
        </p:txBody>
      </p:sp>
      <p:sp>
        <p:nvSpPr>
          <p:cNvPr id="5" name="flow step"/>
          <p:cNvSpPr/>
          <p:nvPr/>
        </p:nvSpPr>
        <p:spPr>
          <a:xfrm>
            <a:off x="548640" y="1600200"/>
            <a:ext cx="5626450" cy="1040130"/>
          </a:xfrm>
          <a:prstGeom prst="roundRect">
            <a:avLst>
              <a:gd name="adj" fmla="val 70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flow badge"/>
          <p:cNvSpPr/>
          <p:nvPr/>
        </p:nvSpPr>
        <p:spPr>
          <a:xfrm>
            <a:off x="713232" y="1891665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916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00200"/>
            <a:ext cx="471205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01 dataset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PBPK subjects → 18 samples (0.5–96 h), 15% proportional error; 27 arms × 100</a:t>
            </a:r>
            <a:endParaRPr lang="en-US" sz="1600" dirty="0"/>
          </a:p>
        </p:txBody>
      </p:sp>
      <p:sp>
        <p:nvSpPr>
          <p:cNvPr id="9" name="flow step"/>
          <p:cNvSpPr/>
          <p:nvPr/>
        </p:nvSpPr>
        <p:spPr>
          <a:xfrm>
            <a:off x="548640" y="2823210"/>
            <a:ext cx="5626450" cy="1040130"/>
          </a:xfrm>
          <a:prstGeom prst="roundRect">
            <a:avLst>
              <a:gd name="adj" fmla="val 70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low badge"/>
          <p:cNvSpPr/>
          <p:nvPr/>
        </p:nvSpPr>
        <p:spPr>
          <a:xfrm>
            <a:off x="713232" y="3114675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1146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23210"/>
            <a:ext cx="471205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02 fit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Per-arm FOCE, both basin starts, keep higher LL; NCA on 0.05 h IPRED grid</a:t>
            </a:r>
            <a:endParaRPr lang="en-US" sz="1600" dirty="0"/>
          </a:p>
        </p:txBody>
      </p:sp>
      <p:sp>
        <p:nvSpPr>
          <p:cNvPr id="13" name="flow step"/>
          <p:cNvSpPr/>
          <p:nvPr/>
        </p:nvSpPr>
        <p:spPr>
          <a:xfrm>
            <a:off x="548640" y="4046220"/>
            <a:ext cx="5626450" cy="1040130"/>
          </a:xfrm>
          <a:prstGeom prst="roundRect">
            <a:avLst>
              <a:gd name="adj" fmla="val 70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low badge"/>
          <p:cNvSpPr/>
          <p:nvPr/>
        </p:nvSpPr>
        <p:spPr>
          <a:xfrm>
            <a:off x="713232" y="4337685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3376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046220"/>
            <a:ext cx="471205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03 collect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Copy to poppk/output_rich/ in PK-Sim format so felo_02/03 run unchanged</a:t>
            </a:r>
            <a:endParaRPr lang="en-US" sz="1600" dirty="0"/>
          </a:p>
        </p:txBody>
      </p:sp>
      <p:sp>
        <p:nvSpPr>
          <p:cNvPr id="17" name="flow step"/>
          <p:cNvSpPr/>
          <p:nvPr/>
        </p:nvSpPr>
        <p:spPr>
          <a:xfrm>
            <a:off x="548640" y="5269230"/>
            <a:ext cx="5626450" cy="1040130"/>
          </a:xfrm>
          <a:prstGeom prst="roundRect">
            <a:avLst>
              <a:gd name="adj" fmla="val 70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flow badge"/>
          <p:cNvSpPr/>
          <p:nvPr/>
        </p:nvSpPr>
        <p:spPr>
          <a:xfrm>
            <a:off x="713232" y="5560695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556069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269230"/>
            <a:ext cx="471205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04–06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 + type I (20k trials), diagnostics, design figure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49410" y="1600200"/>
            <a:ext cx="5193646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2-cmt + Weibull was unidentifiable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(Q or Vp hit bounds), so 1-cmt + Weibull, lag 0.3113 h, IIV on alpha, CL, Vc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Two likelihood basins: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release-limited (flip-flop) and disposition-limited (Vc ≈ 4000 L, t½ ≈ 9 h)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23 arms disposition-limited, 4 release-limited;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σ 0.16–0.24 vs true 0.15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PopPK release parameters do not map onto PK-Sim T50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unlike metformin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Run: julia -J pumas.so --project=julia-env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PopPK agrees near the reference but the band diverges off-shape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29</a:t>
            </a:r>
            <a:endParaRPr lang="en-US" sz="1300" dirty="0"/>
          </a:p>
        </p:txBody>
      </p:sp>
      <p:pic>
        <p:nvPicPr>
          <p:cNvPr id="5" name="Image 0" descr="fig_safespace_2d_overlay_PopP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112" y="1600200"/>
            <a:ext cx="6232712" cy="470916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98615" y="1600200"/>
          <a:ext cx="4544440" cy="914400"/>
        </p:xfrm>
        <a:graphic>
          <a:graphicData uri="http://schemas.openxmlformats.org/drawingml/2006/table">
            <a:tbl>
              <a:tblPr/>
              <a:tblGrid>
                <a:gridCol w="852082"/>
                <a:gridCol w="1656827"/>
                <a:gridCol w="20355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Shape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PopPK (h)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PBPK (h)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3.91–4.79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5.25–5.84 (no overlap)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0.764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4.32–5.25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4.37–5.23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4.67–5.60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4.47–5.28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4.77–5.71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4.67–5.49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5.10–6.11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5.24–6.10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098615" y="3690884"/>
            <a:ext cx="45444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Per subject: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AUC0–t within ±3% in every arm; Cmax 0.87 (shape 0.5) to 1.135; ref 1.089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Bias does not cancel in T/R: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shape 0.5 Cmax GMR 1.229 PBPK vs 0.984 PopPK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1-D T50 axis agrees within 0.08 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(4.38–5.21 vs 4.31–5.21)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I error: both are calibrated, but PopPK moves the GMR boundaries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30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92057" cy="914400"/>
        </p:xfrm>
        <a:graphic>
          <a:graphicData uri="http://schemas.openxmlformats.org/drawingml/2006/table">
            <a:tbl>
              <a:tblPr/>
              <a:tblGrid>
                <a:gridCol w="1403688"/>
                <a:gridCol w="1140497"/>
                <a:gridCol w="1140497"/>
                <a:gridCol w="1096631"/>
                <a:gridCol w="171074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T50 axis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PBPK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PopPK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Shift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True GMR there / truth passes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 side (GMR 1.25)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3.25 h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2.78 h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−15%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1.37 / 0.2% (n=54), 0.5% (n=24)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Slow side (GMR 0.80)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6.96 h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6.45 h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−7%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0.84 / 15.8% (n=54), 8.2% (n=24)</a:t>
                      </a:r>
                      <a:endParaRPr lang="en-US" sz="14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448385"/>
            <a:ext cx="6492057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Calibrated at their own boundary: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4.5–5.1% for Cmax and joint at n = 54; TOST control 4.96%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Fast side anti-conservative, slow side conservative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Shape axis: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PBPK reaches GMR 1.25 at 1.46; PopPK never does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RSABE / ABEL at the ABE boundary (n=24):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20–22% / 13–14% for both</a:t>
            </a:r>
            <a:endParaRPr lang="en-US" sz="1500" dirty="0"/>
          </a:p>
        </p:txBody>
      </p:sp>
      <p:sp>
        <p:nvSpPr>
          <p:cNvPr id="7" name="stat card"/>
          <p:cNvSpPr/>
          <p:nvPr/>
        </p:nvSpPr>
        <p:spPr>
          <a:xfrm>
            <a:off x="7315017" y="1600200"/>
            <a:ext cx="4328038" cy="1239012"/>
          </a:xfrm>
          <a:prstGeom prst="roundRect">
            <a:avLst>
              <a:gd name="adj" fmla="val 59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52177" y="1691640"/>
            <a:ext cx="4053718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−1.1% / −6.8%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452177" y="2311146"/>
            <a:ext cx="4053718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Metformin PopPK vs PBPK boundaries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7315017" y="3022092"/>
            <a:ext cx="4328038" cy="1239012"/>
          </a:xfrm>
          <a:prstGeom prst="roundRect">
            <a:avLst>
              <a:gd name="adj" fmla="val 59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52177" y="3113532"/>
            <a:ext cx="4053718" cy="6195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−7% / −15%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452177" y="3733038"/>
            <a:ext cx="4053718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Felodipine PopPK vs PBPK boundaries</a:t>
            </a:r>
            <a:endParaRPr lang="en-US" sz="1200" dirty="0"/>
          </a:p>
        </p:txBody>
      </p:sp>
      <p:sp>
        <p:nvSpPr>
          <p:cNvPr id="13" name="callout"/>
          <p:cNvSpPr/>
          <p:nvPr/>
        </p:nvSpPr>
        <p:spPr>
          <a:xfrm>
            <a:off x="7315017" y="4535424"/>
            <a:ext cx="4328038" cy="1225296"/>
          </a:xfrm>
          <a:prstGeom prst="roundRect">
            <a:avLst>
              <a:gd name="adj" fmla="val 597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7897" y="4535424"/>
            <a:ext cx="396227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PopPK–PBPK decision agreement needs structural adequacy; for felodipine it fails off-reference even with rich sampling.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Discussion deck (18 slides): docs/Discussion-deck_PBPK-vs-PopPK_offline.html · scripts felo_04 (compare, type I), felo_05 (diagnostics), felo_06 (design).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· Wrap-up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Lessons, where everything lives, and what is still open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PK-Sim gotchas we learned the hard way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31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10048" cy="4373880"/>
          </a:xfrm>
          <a:prstGeom prst="roundRect">
            <a:avLst>
              <a:gd name="adj" fmla="val 16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 dot"/>
          <p:cNvSpPr/>
          <p:nvPr/>
        </p:nvSpPr>
        <p:spPr>
          <a:xfrm>
            <a:off x="731520" y="180136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70992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 handling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5044288" cy="3642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Configure drops OSP sim-level overrides; Clone keeps them — re-enter from the overrides CSV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Overrides show under Parameters → User Defined (+ Find box); neighbourhoods in the detailed tree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Do not "update from building block" on colon clones — it resets colonic CYP3A4 to 0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PI cannot fit particle radius; never fit the physiology "radius" entries</a:t>
            </a:r>
            <a:endParaRPr lang="en-US" sz="1900" dirty="0"/>
          </a:p>
        </p:txBody>
      </p:sp>
      <p:sp>
        <p:nvSpPr>
          <p:cNvPr id="9" name="card"/>
          <p:cNvSpPr/>
          <p:nvPr/>
        </p:nvSpPr>
        <p:spPr>
          <a:xfrm>
            <a:off x="6233008" y="1600200"/>
            <a:ext cx="5410048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dot"/>
          <p:cNvSpPr/>
          <p:nvPr/>
        </p:nvSpPr>
        <p:spPr>
          <a:xfrm>
            <a:off x="6415888" y="18013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5928" y="170992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Working remotely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2194560"/>
            <a:ext cx="50442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Always File → Save at the end of each stage (a full day of work was lost once)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Verify every export: checksums, 96 h end, observed data, parameter vs curve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Ask for a screenshot instead of guessing a UI label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Ask for a project snapshot JSON — and check it is the current project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everything is saved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32</a:t>
            </a:r>
            <a:endParaRPr lang="en-US" sz="13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9729"/>
                <a:gridCol w="79846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Location (Felodipine-BCSII/ unless stated)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PK-Sim project (local installation)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Felodipine_ER_colon50.pksim5 (baseline Felodipine_original.pksim5 untouched)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Project notes, all decisions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project notes (not included) · scope: planning notes (not included)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PK-Sim exports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pksim-particle-size-pk/ · pksim-releaserate-cqa-er/ (matrix_Sweep_td50_shape/, 16Oct2026sims/, fed-sims/, tablets-1994/)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Sweep results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output_sweep_coarse/ · output_sweep_2d/ · output_sweep_2d_fedcv/ · output_tablets1994/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PopPK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poppk/ (src, scripts, output_rich/, output_sweep_2d_poppk/) · fits in poppk-fits/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Analysis scripts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scripts/felo_02 … felo_06 (run from programs, julia --project=.) · scripts/score.py, xl.py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References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reference/: OSP snapshot JSON, overrides CSV, fed + dissolution literature, digitised/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Decks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Explainer v14: docs/Explainer-deck_PKSim-model-fix_offline.html · Discussion: docs/Discussion-deck_PBPK-vs-PopPK_offline.html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Summary doc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docs/Felodipine-ER-PKSim-Work-Summary.docx · Word copy: Felodipine-ER-PKSim-Work-Summary.docx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This deck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slides/full-summary/Felodipine-ER-Full-Work-Summary.pptx and .html · generator scripts/build_full_deck.js</a:t>
                      </a:r>
                      <a:endParaRPr lang="en-US" sz="13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PK-Sim work is finished; these decisions are open</a:t>
            </a:r>
            <a:endParaRPr lang="en-US" sz="2600" dirty="0"/>
          </a:p>
        </p:txBody>
      </p:sp>
      <p:sp>
        <p:nvSpPr>
          <p:cNvPr id="3" name="step badge"/>
          <p:cNvSpPr/>
          <p:nvPr/>
        </p:nvSpPr>
        <p:spPr>
          <a:xfrm>
            <a:off x="548640" y="292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33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10048" cy="3886200"/>
          </a:xfrm>
          <a:prstGeom prst="roundRect">
            <a:avLst>
              <a:gd name="adj" fmla="val 1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 dot"/>
          <p:cNvSpPr/>
          <p:nvPr/>
        </p:nvSpPr>
        <p:spPr>
          <a:xfrm>
            <a:off x="731520" y="18013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70992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Proposed next steps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50442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NCA on the sampled data (model-free comparator)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Joint PopPK model across arms (T50 and shape covariates)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Richer absorption model (transit or two-phase)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Sparse sampling (6 samples)</a:t>
            </a:r>
            <a:endParaRPr lang="en-US" sz="19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Felodipine write-up</a:t>
            </a:r>
            <a:endParaRPr lang="en-US" sz="1900" dirty="0"/>
          </a:p>
        </p:txBody>
      </p:sp>
      <p:sp>
        <p:nvSpPr>
          <p:cNvPr id="9" name="card"/>
          <p:cNvSpPr/>
          <p:nvPr/>
        </p:nvSpPr>
        <p:spPr>
          <a:xfrm>
            <a:off x="6233008" y="1600200"/>
            <a:ext cx="5410048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dot"/>
          <p:cNvSpPr/>
          <p:nvPr/>
        </p:nvSpPr>
        <p:spPr>
          <a:xfrm>
            <a:off x="6415888" y="180136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5928" y="1709928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 questions and loose ends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2194560"/>
            <a:ext cx="50442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Report the PopPK divergence as is, or improve PopPK first?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Literature: colon vs SI CYP3A4 ratio (supports 50%); Blychert 1990 market vs trial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Record the meal template used in Pop_fed_ref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Class B (particle size) CQA needs a different BCS II drug — not screened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Refresh the MBBE archive with the felodipine work when asked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lodipine MBBE">
  <a:themeElements>
    <a:clrScheme name="Felodipine MBBE">
      <a:dk1>
        <a:srgbClr val="1B2430"/>
      </a:dk1>
      <a:lt1>
        <a:srgbClr val="FFFFFF"/>
      </a:lt1>
      <a:dk2>
        <a:srgbClr val="0F3D4C"/>
      </a:dk2>
      <a:lt2>
        <a:srgbClr val="EDF3F4"/>
      </a:lt2>
      <a:accent1>
        <a:srgbClr val="0F766E"/>
      </a:accent1>
      <a:accent2>
        <a:srgbClr val="D97706"/>
      </a:accent2>
      <a:accent3>
        <a:srgbClr val="64748B"/>
      </a:accent3>
      <a:accent4>
        <a:srgbClr val="B42318"/>
      </a:accent4>
      <a:accent5>
        <a:srgbClr val="15803D"/>
      </a:accent5>
      <a:accent6>
        <a:srgbClr val="1D4ED8"/>
      </a:accent6>
      <a:hlink>
        <a:srgbClr val="0F766E"/>
      </a:hlink>
      <a:folHlink>
        <a:srgbClr val="64748B"/>
      </a:folHlink>
    </a:clrScheme>
    <a:fontScheme name="Felodipine MBB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Felodipine ER — full work summary</dc:title>
  <dc:subject>PptxGenJS Presentation</dc:subject>
  <dc:creator/>
  <cp:lastModifiedBy/>
  <cp:revision>1</cp:revision>
  <dcterms:created xsi:type="dcterms:W3CDTF">2026-10-21T14:17:39Z</dcterms:created>
  <dcterms:modified xsi:type="dcterms:W3CDTF">2026-10-21T14:17:39Z</dcterms:modified>
</cp:coreProperties>
</file>